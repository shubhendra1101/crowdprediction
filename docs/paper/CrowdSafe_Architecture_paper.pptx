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3990320" cy="438912"/>
          </a:xfrm>
          <a:prstGeom prst="rect">
            <a:avLst/>
          </a:prstGeom>
          <a:noFill/>
        </p:spPr>
        <p:txBody>
          <a:bodyPr wrap="square" lIns="73152" rIns="73152" tIns="43891" bIns="36576">
            <a:spAutoFit/>
          </a:bodyPr>
          <a:lstStyle/>
          <a:p>
            <a:pPr algn="ctr">
              <a:spcAft>
                <a:spcPts val="150"/>
              </a:spcAft>
              <a:defRPr sz="2500" b="1" i="0">
                <a:solidFill>
                  <a:srgbClr val="18305B"/>
                </a:solidFill>
                <a:latin typeface="Aptos"/>
              </a:defRPr>
            </a:pPr>
            <a:r>
              <a:t>CrowdSafe: CCTV-to-Alert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3898880" cy="228600"/>
          </a:xfrm>
          <a:prstGeom prst="rect">
            <a:avLst/>
          </a:prstGeom>
          <a:noFill/>
        </p:spPr>
        <p:txBody>
          <a:bodyPr wrap="square" lIns="73152" rIns="73152" tIns="43891" bIns="36576">
            <a:spAutoFit/>
          </a:bodyPr>
          <a:lstStyle/>
          <a:p>
            <a:pPr algn="ctr">
              <a:spcAft>
                <a:spcPts val="150"/>
              </a:spcAft>
              <a:defRPr sz="1000" b="0" i="0">
                <a:solidFill>
                  <a:srgbClr val="828C9B"/>
                </a:solidFill>
                <a:latin typeface="Aptos"/>
              </a:defRPr>
            </a:pPr>
            <a:r>
              <a:t>One-time calibration  •  Vision processing and zone features every 1 s  •  Forecasting, risk and alerts every 5 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2743200" cy="1417320"/>
          </a:xfrm>
          <a:prstGeom prst="roundRect">
            <a:avLst/>
          </a:prstGeom>
          <a:solidFill>
            <a:srgbClr val="E1F0FF"/>
          </a:solidFill>
          <a:ln w="17780">
            <a:solidFill>
              <a:srgbClr val="2D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300" b="1">
                <a:solidFill>
                  <a:srgbClr val="18305B"/>
                </a:solidFill>
                <a:latin typeface="Aptos Display"/>
              </a:defRPr>
            </a:pPr>
            <a:r>
              <a:t>1. INPUT LAYER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Video stream + configuration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CCTV: fixed camera, 1080p, 25 fps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Administrator settings: zone polygons, exclusion masks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Risk bands: 2 / 4 / 5 persons/m²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Alert timing: hold 10 s, clear 30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960120"/>
            <a:ext cx="4023360" cy="1417320"/>
          </a:xfrm>
          <a:prstGeom prst="roundRect">
            <a:avLst/>
          </a:prstGeom>
          <a:solidFill>
            <a:srgbClr val="FFE7EB"/>
          </a:solidFill>
          <a:ln w="17780">
            <a:solidFill>
              <a:srgbClr val="DC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2. CAMERA CALIBRATION  |  ONE-TIME SETUP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Shared geometry used by zone mapping and motion conversion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Inputs: measured desk/table dimensions, straight edges, camera height (if known)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Model: pinhole camera + radial distortion (k₁, k₂)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Outputs: camera parameters, zone masks Mz, visible floor area Az, pixel-to-floor mapping at 1.2 m head height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960120"/>
            <a:ext cx="2743200" cy="1417320"/>
          </a:xfrm>
          <a:prstGeom prst="roundRect">
            <a:avLst/>
          </a:prstGeom>
          <a:solidFill>
            <a:srgbClr val="F1EAFF"/>
          </a:solidFill>
          <a:ln w="17780">
            <a:solidFill>
              <a:srgbClr val="82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300" b="1">
                <a:solidFill>
                  <a:srgbClr val="18305B"/>
                </a:solidFill>
                <a:latin typeface="Aptos Display"/>
              </a:defRPr>
            </a:pPr>
            <a:r>
              <a:t>3. FRAME SAMPLING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Produces aligned frame(s) for both vision branches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One frame per second for counting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Partner frame at t + 0.2 s for RAFT</a:t>
            </a:r>
          </a:p>
          <a:p>
            <a:pPr>
              <a:spcAft>
                <a:spcPts val="1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Resize / normalize; apply exclusion masks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960120"/>
            <a:ext cx="3383280" cy="1417320"/>
          </a:xfrm>
          <a:prstGeom prst="roundRect">
            <a:avLst/>
          </a:prstGeom>
          <a:solidFill>
            <a:srgbClr val="E5F8EB"/>
          </a:solidFill>
          <a:ln w="17780">
            <a:solidFill>
              <a:srgbClr val="2DA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4. PEOPLE COUNTING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Deployed zone path uses CLIP-EBC density map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CLIP-EBC ViT-B/16: zero-shot, NWPU weights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45 non-overlapping 224 px windows/frame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Output: density map Dt (135 × 240 cells)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YOLO11l / fusion: frame-level baselines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3886200" cy="1508760"/>
          </a:xfrm>
          <a:prstGeom prst="roundRect">
            <a:avLst/>
          </a:prstGeom>
          <a:solidFill>
            <a:srgbClr val="F1EAFF"/>
          </a:solidFill>
          <a:ln w="17780">
            <a:solidFill>
              <a:srgbClr val="82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5. MOTION FEATURE EXTRACTION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Input: paired frames + calibrated camera model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RAFT-large optical flow: 960 × 544 input, 12 iterations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Camera model → floor velocity (m/s), weighted by Dt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Per-zone: mean speed, speed variance, pressure (ρ·var), direction entropy, counter-flow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Inflow/outflow: trajectories only; unavailable from CCTV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880360"/>
            <a:ext cx="4663440" cy="1508760"/>
          </a:xfrm>
          <a:prstGeom prst="roundRect">
            <a:avLst/>
          </a:prstGeom>
          <a:solidFill>
            <a:srgbClr val="E1F0FF"/>
          </a:solidFill>
          <a:ln w="17780">
            <a:solidFill>
              <a:srgbClr val="2D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6. ZONE AGGREGATION &amp; UNIFIED FEATURE TABLE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Output: time-indexed zone feature rows at 1 Hz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Count: cz,t = Σ(Dt inside Mz)     Density: ρz,t = cz,t / Az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Combine count, density and motion into one row per camera/run, zone and second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Trajectory sources (Jülich measured, JuPedSim simulated) populate the same feature schema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CCTV inflow/outflow fields remain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880360"/>
            <a:ext cx="4389120" cy="1508760"/>
          </a:xfrm>
          <a:prstGeom prst="roundRect">
            <a:avLst/>
          </a:prstGeom>
          <a:solidFill>
            <a:srgbClr val="FFF6DC"/>
          </a:solidFill>
          <a:ln w="17780">
            <a:solidFill>
              <a:srgbClr val="D2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7. FORECASTING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Input: unified feature table  •  Output: forecast quantiles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Every 5 s: last 30 s of each zone's 1-Hz history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Chronos-2 zero-shot: per-zone or joint; quantiles p10 / p50 / p90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Baselines: persistence; physics fill-rate (trajectory data only)</a:t>
            </a:r>
          </a:p>
          <a:p>
            <a:pPr>
              <a:spcAft>
                <a:spcPts val="100"/>
              </a:spcAft>
              <a:defRPr sz="880">
                <a:solidFill>
                  <a:srgbClr val="1F2937"/>
                </a:solidFill>
                <a:latin typeface="Aptos"/>
              </a:defRPr>
            </a:pPr>
            <a:r>
              <a:t>Horizons: 10, 30, 60 s (120 s in simulation)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3200400" cy="1417320"/>
          </a:xfrm>
          <a:prstGeom prst="roundRect">
            <a:avLst/>
          </a:prstGeom>
          <a:solidFill>
            <a:srgbClr val="E5F8EB"/>
          </a:solidFill>
          <a:ln w="17780">
            <a:solidFill>
              <a:srgbClr val="2DA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8. CONFORMAL CALIBRATION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Validation split calibrates; held-out test evaluates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Validation residual: r = ρtrue − p90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qh = 90 % conformal quantile of residuals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Calibrated upper bound: Uz,h = max(0, p90z,h + qh)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892040"/>
            <a:ext cx="3017520" cy="1417320"/>
          </a:xfrm>
          <a:prstGeom prst="roundRect">
            <a:avLst/>
          </a:prstGeom>
          <a:solidFill>
            <a:srgbClr val="FFE7EB"/>
          </a:solidFill>
          <a:ln w="17780">
            <a:solidFill>
              <a:srgbClr val="DC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9. RISK CLASSIFICATION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Output: zone risk level + time-to-critical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Worst case: Wz = max(ρz, maxh Uz,h)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Low &lt; 2  •  Medium 2–4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High 4–5  •  Critical ≥ 5 persons/m²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Time-to-critical: first horizon with Uz,h ≥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892040"/>
            <a:ext cx="3017520" cy="1417320"/>
          </a:xfrm>
          <a:prstGeom prst="roundRect">
            <a:avLst/>
          </a:prstGeom>
          <a:solidFill>
            <a:srgbClr val="F1EAFF"/>
          </a:solidFill>
          <a:ln w="17780">
            <a:solidFill>
              <a:srgbClr val="82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10. ALERT GENERATION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Output: alert event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Raise when High/Critical persists for 10 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Clear after below High for 30 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Record zone, reason, forecast bound and time-to-critical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98480" y="4892040"/>
            <a:ext cx="3383280" cy="1417320"/>
          </a:xfrm>
          <a:prstGeom prst="roundRect">
            <a:avLst/>
          </a:prstGeom>
          <a:solidFill>
            <a:srgbClr val="E1F0FF"/>
          </a:solidFill>
          <a:ln w="17780">
            <a:solidFill>
              <a:srgbClr val="2D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54864"/>
          <a:lstStyle/>
          <a:p>
            <a:pPr algn="ctr">
              <a:spcAft>
                <a:spcPts val="400"/>
              </a:spcAft>
              <a:defRPr sz="1200" b="1">
                <a:solidFill>
                  <a:srgbClr val="18305B"/>
                </a:solidFill>
                <a:latin typeface="Aptos Display"/>
              </a:defRPr>
            </a:pPr>
            <a:r>
              <a:t>11. DASHBOARD &amp; OUTPUTS</a:t>
            </a:r>
          </a:p>
          <a:p>
            <a:pPr>
              <a:spcAft>
                <a:spcPts val="300"/>
              </a:spcAft>
              <a:defRPr sz="850" i="1">
                <a:solidFill>
                  <a:srgbClr val="1F2937"/>
                </a:solidFill>
                <a:latin typeface="Aptos"/>
              </a:defRPr>
            </a:pPr>
            <a:r>
              <a:t>Operator view + logs / replay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Next.js dashboard: zone map, density, forecasts and alerts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FastAPI / WebSocket replay of stored runs</a:t>
            </a:r>
          </a:p>
          <a:p>
            <a:pPr>
              <a:spcAft>
                <a:spcPts val="100"/>
              </a:spcAft>
              <a:defRPr sz="900">
                <a:solidFill>
                  <a:srgbClr val="1F2937"/>
                </a:solidFill>
                <a:latin typeface="Aptos"/>
              </a:defRPr>
            </a:pPr>
            <a:r>
              <a:t>Stored: zone series, forecasts, risk states, alerts and stage latency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1664208"/>
            <a:ext cx="365760" cy="0"/>
          </a:xfrm>
          <a:prstGeom prst="line">
            <a:avLst/>
          </a:prstGeom>
          <a:ln w="22860">
            <a:solidFill>
              <a:srgbClr val="2D7D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61320" y="1664208"/>
            <a:ext cx="365760" cy="0"/>
          </a:xfrm>
          <a:prstGeom prst="line">
            <a:avLst/>
          </a:prstGeom>
          <a:ln w="22860">
            <a:solidFill>
              <a:srgbClr val="825A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423160" y="2377440"/>
            <a:ext cx="6675120" cy="502920"/>
          </a:xfrm>
          <a:prstGeom prst="line">
            <a:avLst/>
          </a:prstGeom>
          <a:ln w="17780">
            <a:solidFill>
              <a:srgbClr val="828C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040880" y="2377440"/>
            <a:ext cx="5577840" cy="502920"/>
          </a:xfrm>
          <a:prstGeom prst="line">
            <a:avLst/>
          </a:prstGeom>
          <a:ln w="17780">
            <a:solidFill>
              <a:srgbClr val="2DA0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3639312"/>
            <a:ext cx="137160" cy="0"/>
          </a:xfrm>
          <a:prstGeom prst="line">
            <a:avLst/>
          </a:prstGeom>
          <a:ln w="20320">
            <a:solidFill>
              <a:srgbClr val="825A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2600" y="3639312"/>
            <a:ext cx="320040" cy="0"/>
          </a:xfrm>
          <a:prstGeom prst="line">
            <a:avLst/>
          </a:prstGeom>
          <a:ln w="20320">
            <a:solidFill>
              <a:srgbClr val="2D7D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40680" y="2377440"/>
            <a:ext cx="1051560" cy="502920"/>
          </a:xfrm>
          <a:prstGeom prst="line">
            <a:avLst/>
          </a:prstGeom>
          <a:ln w="16510">
            <a:solidFill>
              <a:srgbClr val="DC46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103120" y="4389120"/>
            <a:ext cx="9692640" cy="502920"/>
          </a:xfrm>
          <a:prstGeom prst="line">
            <a:avLst/>
          </a:prstGeom>
          <a:ln w="17780">
            <a:solidFill>
              <a:srgbClr val="D291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03320" y="5596128"/>
            <a:ext cx="320040" cy="0"/>
          </a:xfrm>
          <a:prstGeom prst="line">
            <a:avLst/>
          </a:prstGeom>
          <a:ln w="20320">
            <a:solidFill>
              <a:srgbClr val="2DA0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40880" y="5596128"/>
            <a:ext cx="320040" cy="0"/>
          </a:xfrm>
          <a:prstGeom prst="line">
            <a:avLst/>
          </a:prstGeom>
          <a:ln w="20320">
            <a:solidFill>
              <a:srgbClr val="DC46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378440" y="5596128"/>
            <a:ext cx="320040" cy="0"/>
          </a:xfrm>
          <a:prstGeom prst="line">
            <a:avLst/>
          </a:prstGeom>
          <a:ln w="20320">
            <a:solidFill>
              <a:srgbClr val="825A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629400"/>
            <a:ext cx="13624560" cy="594360"/>
          </a:xfrm>
          <a:prstGeom prst="rect">
            <a:avLst/>
          </a:prstGeom>
          <a:noFill/>
        </p:spPr>
        <p:txBody>
          <a:bodyPr wrap="square" lIns="73152" rIns="73152" tIns="43891" bIns="36576">
            <a:spAutoFit/>
          </a:bodyPr>
          <a:lstStyle/>
          <a:p>
            <a:pPr algn="ctr">
              <a:spcAft>
                <a:spcPts val="150"/>
              </a:spcAft>
              <a:defRPr sz="1050" b="1" i="0">
                <a:solidFill>
                  <a:srgbClr val="18305B"/>
                </a:solidFill>
                <a:latin typeface="Aptos"/>
              </a:defRPr>
            </a:pPr>
            <a:r>
              <a:t>DATA FLOW:  CCTV frames → CLIP-EBC density map  +  RAFT motion field  →  calibrated zone features  →  Chronos-2 quantiles  →  conformal upper bound  →  risk state  →  alert event  → 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7315200"/>
            <a:ext cx="13624560" cy="411480"/>
          </a:xfrm>
          <a:prstGeom prst="rect">
            <a:avLst/>
          </a:prstGeom>
          <a:noFill/>
        </p:spPr>
        <p:txBody>
          <a:bodyPr wrap="square" lIns="73152" rIns="73152" tIns="43891" bIns="36576">
            <a:spAutoFit/>
          </a:bodyPr>
          <a:lstStyle/>
          <a:p>
            <a:pPr algn="ctr">
              <a:spcAft>
                <a:spcPts val="150"/>
              </a:spcAft>
              <a:defRPr sz="900" b="0" i="0">
                <a:solidFill>
                  <a:srgbClr val="828C9B"/>
                </a:solidFill>
                <a:latin typeface="Aptos"/>
              </a:defRPr>
            </a:pPr>
            <a:r>
              <a:t>Continuous operation: repeat frame sampling and vision extraction every second; refresh forecasting, risk classification and alert state every five seconds. YOLO11 / fusion are comparison baselines, not part of the deployed zone-density path.</a:t>
            </a:r>
          </a:p>
        </p:txBody>
      </p:sp>
      <p:cxnSp>
        <p:nvCxnSpPr>
          <p:cNvPr id="29" name="Route 29"/>
          <p:cNvCxnSpPr/>
          <p:nvPr/>
        </p:nvCxnSpPr>
        <p:spPr>
          <a:xfrm flipV="1">
            <a:off x="1691640" y="850392"/>
            <a:ext cx="0" cy="109728"/>
          </a:xfrm>
          <a:prstGeom prst="line">
            <a:avLst/>
          </a:prstGeom>
          <a:ln w="22860">
            <a:solidFill>
              <a:srgbClr val="2D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oute 30"/>
          <p:cNvCxnSpPr/>
          <p:nvPr/>
        </p:nvCxnSpPr>
        <p:spPr>
          <a:xfrm>
            <a:off x="1691640" y="850392"/>
            <a:ext cx="7498080" cy="0"/>
          </a:xfrm>
          <a:prstGeom prst="line">
            <a:avLst/>
          </a:prstGeom>
          <a:ln w="22860">
            <a:solidFill>
              <a:srgbClr val="2D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Input to frame sampling 31"/>
          <p:cNvCxnSpPr/>
          <p:nvPr/>
        </p:nvCxnSpPr>
        <p:spPr>
          <a:xfrm>
            <a:off x="9189720" y="850392"/>
            <a:ext cx="0" cy="109728"/>
          </a:xfrm>
          <a:prstGeom prst="line">
            <a:avLst/>
          </a:prstGeom>
          <a:ln w="22860">
            <a:solidFill>
              <a:srgbClr val="2D7D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alibration to motion 32"/>
          <p:cNvCxnSpPr/>
          <p:nvPr/>
        </p:nvCxnSpPr>
        <p:spPr>
          <a:xfrm flipH="1">
            <a:off x="3383280" y="2377440"/>
            <a:ext cx="685800" cy="502919"/>
          </a:xfrm>
          <a:prstGeom prst="line">
            <a:avLst/>
          </a:prstGeom>
          <a:ln w="17780">
            <a:solidFill>
              <a:srgbClr val="828C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Label 33"/>
          <p:cNvSpPr txBox="1"/>
          <p:nvPr/>
        </p:nvSpPr>
        <p:spPr>
          <a:xfrm>
            <a:off x="2788920" y="2468880"/>
            <a:ext cx="868680" cy="14630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/>
          <a:lstStyle/>
          <a:p>
            <a:pPr algn="ctr"/>
            <a:r>
              <a:rPr lang="en-US" sz="800" i="1" dirty="0">
                <a:solidFill>
                  <a:srgbClr val="4B5563"/>
                </a:solidFill>
                <a:latin typeface="Aptos"/>
              </a:rPr>
              <a:t>pixel → floor</a:t>
            </a:r>
          </a:p>
        </p:txBody>
      </p:sp>
      <p:cxnSp>
        <p:nvCxnSpPr>
          <p:cNvPr id="34" name="Route 34"/>
          <p:cNvCxnSpPr/>
          <p:nvPr/>
        </p:nvCxnSpPr>
        <p:spPr>
          <a:xfrm>
            <a:off x="5532120" y="6309360"/>
            <a:ext cx="0" cy="164591"/>
          </a:xfrm>
          <a:prstGeom prst="line">
            <a:avLst/>
          </a:prstGeom>
          <a:ln w="22860">
            <a:solidFill>
              <a:srgbClr val="2D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oute 35"/>
          <p:cNvCxnSpPr/>
          <p:nvPr/>
        </p:nvCxnSpPr>
        <p:spPr>
          <a:xfrm>
            <a:off x="5532120" y="6473952"/>
            <a:ext cx="6858000" cy="0"/>
          </a:xfrm>
          <a:prstGeom prst="line">
            <a:avLst/>
          </a:prstGeom>
          <a:ln w="22860">
            <a:solidFill>
              <a:srgbClr val="2D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isk to dashboard 36"/>
          <p:cNvCxnSpPr/>
          <p:nvPr/>
        </p:nvCxnSpPr>
        <p:spPr>
          <a:xfrm flipV="1">
            <a:off x="12390120" y="6309360"/>
            <a:ext cx="0" cy="164591"/>
          </a:xfrm>
          <a:prstGeom prst="line">
            <a:avLst/>
          </a:prstGeom>
          <a:ln w="22860">
            <a:solidFill>
              <a:srgbClr val="2D7D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Label 37"/>
          <p:cNvSpPr txBox="1"/>
          <p:nvPr/>
        </p:nvSpPr>
        <p:spPr>
          <a:xfrm>
            <a:off x="7863840" y="6400800"/>
            <a:ext cx="2194560" cy="14630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ctr"/>
          <a:lstStyle/>
          <a:p>
            <a:pPr algn="ctr"/>
            <a:r>
              <a:rPr lang="en-US" sz="800" i="1" dirty="0">
                <a:solidFill>
                  <a:srgbClr val="4B5563"/>
                </a:solidFill>
                <a:latin typeface="Aptos"/>
              </a:rPr>
              <a:t>zone levels + forecasts (every zone)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